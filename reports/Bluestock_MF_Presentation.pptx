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731520"/>
            <a:ext cx="3657600" cy="3657600"/>
          </a:xfrm>
          <a:prstGeom prst="ellipse">
            <a:avLst/>
          </a:prstGeom>
          <a:solidFill>
            <a:srgbClr val="0D9488">
              <a:alpha val="20000"/>
            </a:srgbClr>
          </a:solidFill>
          <a:ln w="12700">
            <a:solidFill>
              <a:srgbClr val="0D9488">
                <a:alpha val="2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731520" y="3200400"/>
            <a:ext cx="2743200" cy="2743200"/>
          </a:xfrm>
          <a:prstGeom prst="ellipse">
            <a:avLst/>
          </a:prstGeom>
          <a:solidFill>
            <a:srgbClr val="0D9488">
              <a:alpha val="15000"/>
            </a:srgbClr>
          </a:solidFill>
          <a:ln w="12700">
            <a:solidFill>
              <a:srgbClr val="0D9488">
                <a:alpha val="1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685800"/>
            <a:ext cx="8046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Bluestock MF Analytics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48640" y="173736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A5D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Mutual Fund Data Analytics Pipeline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548640" y="224028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 Project Presentation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00400" y="2743200"/>
            <a:ext cx="2743200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2926080"/>
            <a:ext cx="80467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Sravani Surepalli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BSc Data Science (Graduate 2026) · University of Mumbai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Analytics Intern · Bluestock Finserv Pvt. Ltd.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June 2026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926080" y="4160520"/>
            <a:ext cx="3291840" cy="365760"/>
          </a:xfrm>
          <a:prstGeom prst="roundRect">
            <a:avLst>
              <a:gd name="adj" fmla="val 12500"/>
            </a:avLst>
          </a:prstGeom>
          <a:solidFill>
            <a:srgbClr val="0D9488">
              <a:alpha val="30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926080" y="4178808"/>
            <a:ext cx="3291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github.com/sravanisurepalli21/bluestock_mf_capstone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8321040" y="484632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12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73152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&amp; Objective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11480" y="62179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5D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project matters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1005840"/>
            <a:ext cx="9144000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188720"/>
            <a:ext cx="3931920" cy="3474720"/>
          </a:xfrm>
          <a:prstGeom prst="roundRect">
            <a:avLst>
              <a:gd name="adj" fmla="val 2105"/>
            </a:avLst>
          </a:prstGeom>
          <a:solidFill>
            <a:srgbClr val="FFF0F3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02920" y="12801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3F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1737360"/>
            <a:ext cx="365760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Mutual fund data lives in 15+ disconnected CSV files</a:t>
            </a:r>
            <a:endParaRPr lang="en-US" sz="10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unified view of NAV, AUM, SIP &amp; investor behaviour</a:t>
            </a:r>
            <a:endParaRPr lang="en-US" sz="10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analysis is slow and error-prone</a:t>
            </a:r>
            <a:endParaRPr lang="en-US" sz="10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Distributor teams lack self-service analytics</a:t>
            </a:r>
            <a:endParaRPr lang="en-US" sz="10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performance benchmarking vs. category indices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663440" y="1188720"/>
            <a:ext cx="3931920" cy="3474720"/>
          </a:xfrm>
          <a:prstGeom prst="roundRect">
            <a:avLst>
              <a:gd name="adj" fmla="val 2105"/>
            </a:avLst>
          </a:prstGeom>
          <a:solidFill>
            <a:srgbClr val="F0F7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800600" y="12801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Objective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800600" y="1737360"/>
            <a:ext cx="365760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an end-to-end ETL pipeline in Python</a:t>
            </a:r>
            <a:endParaRPr lang="en-US" sz="10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 star schema SQLite database</a:t>
            </a:r>
            <a:endParaRPr lang="en-US" sz="10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Conduct EDA across all 5 analytical domains</a:t>
            </a:r>
            <a:endParaRPr lang="en-US" sz="10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fund performance vs. indices</a:t>
            </a:r>
            <a:endParaRPr lang="en-US" sz="10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 an interactive Power BI dashboard</a:t>
            </a:r>
            <a:endParaRPr lang="en-US" sz="10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rule-based fund recommender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0" y="484632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Bluestock Finserv Pvt. Ltd.  ·  MF Analytics Capstone  ·  2026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8321040" y="484632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73152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Sources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11480" y="62179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5D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CSV files across 6 analytical domains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1005840"/>
            <a:ext cx="9144000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143000"/>
            <a:ext cx="2743200" cy="1691640"/>
          </a:xfrm>
          <a:prstGeom prst="roundRect">
            <a:avLst>
              <a:gd name="adj" fmla="val 4324"/>
            </a:avLst>
          </a:prstGeom>
          <a:solidFill>
            <a:srgbClr val="EFF6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11480" y="123444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NAV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11480" y="1600200"/>
            <a:ext cx="2468880" cy="228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691640"/>
            <a:ext cx="2468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nav_history.csv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3200400" y="1143000"/>
            <a:ext cx="2743200" cy="1691640"/>
          </a:xfrm>
          <a:prstGeom prst="roundRect">
            <a:avLst>
              <a:gd name="adj" fmla="val 4324"/>
            </a:avLst>
          </a:prstGeom>
          <a:solidFill>
            <a:srgbClr val="F0FDF4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337560" y="123444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Transactions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337560" y="1600200"/>
            <a:ext cx="2468880" cy="228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37560" y="1691640"/>
            <a:ext cx="2468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investor_transactions.csv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redemption_data.csv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6126480" y="1143000"/>
            <a:ext cx="2743200" cy="1691640"/>
          </a:xfrm>
          <a:prstGeom prst="roundRect">
            <a:avLst>
              <a:gd name="adj" fmla="val 4324"/>
            </a:avLst>
          </a:prstGeom>
          <a:solidFill>
            <a:srgbClr val="FFFBEB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263640" y="123444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Performance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263640" y="1600200"/>
            <a:ext cx="2468880" cy="228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63640" y="1691640"/>
            <a:ext cx="2468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scheme_performance.csv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benchmark_returns.csv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274320" y="3017520"/>
            <a:ext cx="2743200" cy="1691640"/>
          </a:xfrm>
          <a:prstGeom prst="roundRect">
            <a:avLst>
              <a:gd name="adj" fmla="val 4324"/>
            </a:avLst>
          </a:prstGeom>
          <a:solidFill>
            <a:srgbClr val="FFF1F2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11480" y="310896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AUM &amp; SIP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11480" y="3474720"/>
            <a:ext cx="2468880" cy="228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1480" y="3566160"/>
            <a:ext cx="2468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aum_data.csv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sip_inflows.csv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sip_registrations.csv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200400" y="3017520"/>
            <a:ext cx="2743200" cy="1691640"/>
          </a:xfrm>
          <a:prstGeom prst="roundRect">
            <a:avLst>
              <a:gd name="adj" fmla="val 4324"/>
            </a:avLst>
          </a:prstGeom>
          <a:solidFill>
            <a:srgbClr val="F5F3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3337560" y="310896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Schemes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337560" y="3474720"/>
            <a:ext cx="2468880" cy="228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337560" y="3566160"/>
            <a:ext cx="2468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scheme_master.csv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fund_manager.csv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category_benchmark.csv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6126480" y="3017520"/>
            <a:ext cx="2743200" cy="1691640"/>
          </a:xfrm>
          <a:prstGeom prst="roundRect">
            <a:avLst>
              <a:gd name="adj" fmla="val 4324"/>
            </a:avLst>
          </a:prstGeom>
          <a:solidFill>
            <a:srgbClr val="ECFDF5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6263640" y="310896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Investors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263640" y="3474720"/>
            <a:ext cx="2468880" cy="228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263640" y="3566160"/>
            <a:ext cx="2468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investor_master.csv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expense_ratios.csv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dividend_history.csv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portfolio_holdings.csv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0" y="484632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Bluestock Finserv Pvt. Ltd.  ·  MF Analytics Capstone  ·  2026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8321040" y="484632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12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73152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Pipeline Architecture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11480" y="62179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5D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→ Transform → Load → Analyse → Visualise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1005840"/>
            <a:ext cx="9144000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234440"/>
            <a:ext cx="1508760" cy="1371600"/>
          </a:xfrm>
          <a:prstGeom prst="roundRect">
            <a:avLst>
              <a:gd name="adj" fmla="val 5333"/>
            </a:avLst>
          </a:prstGeom>
          <a:solidFill>
            <a:srgbClr val="DBEAFE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20040" y="1298448"/>
            <a:ext cx="1417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EXTRACT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20040" y="1719072"/>
            <a:ext cx="1417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ingest_data.py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CSV files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1783080" y="1920240"/>
            <a:ext cx="210312" cy="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993392" y="1234440"/>
            <a:ext cx="1508760" cy="1371600"/>
          </a:xfrm>
          <a:prstGeom prst="roundRect">
            <a:avLst>
              <a:gd name="adj" fmla="val 5333"/>
            </a:avLst>
          </a:prstGeom>
          <a:solidFill>
            <a:srgbClr val="FEF9C3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039112" y="1298448"/>
            <a:ext cx="1417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VALIDATE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039112" y="1719072"/>
            <a:ext cx="1417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validate.py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checks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502152" y="1920240"/>
            <a:ext cx="210312" cy="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712464" y="1234440"/>
            <a:ext cx="1508760" cy="1371600"/>
          </a:xfrm>
          <a:prstGeom prst="roundRect">
            <a:avLst>
              <a:gd name="adj" fmla="val 5333"/>
            </a:avLst>
          </a:prstGeom>
          <a:solidFill>
            <a:srgbClr val="DCFCE7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758184" y="1298448"/>
            <a:ext cx="1417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TRANSFORM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758184" y="1719072"/>
            <a:ext cx="1417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clean_data.py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&amp; standardise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5221224" y="1920240"/>
            <a:ext cx="210312" cy="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431536" y="1234440"/>
            <a:ext cx="1508760" cy="1371600"/>
          </a:xfrm>
          <a:prstGeom prst="roundRect">
            <a:avLst>
              <a:gd name="adj" fmla="val 5333"/>
            </a:avLst>
          </a:prstGeom>
          <a:solidFill>
            <a:srgbClr val="FFE4E6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477256" y="1298448"/>
            <a:ext cx="1417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LOAD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477256" y="1719072"/>
            <a:ext cx="1417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load_db.py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star schema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6940296" y="1920240"/>
            <a:ext cx="210312" cy="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150608" y="1234440"/>
            <a:ext cx="1508760" cy="1371600"/>
          </a:xfrm>
          <a:prstGeom prst="roundRect">
            <a:avLst>
              <a:gd name="adj" fmla="val 5333"/>
            </a:avLst>
          </a:prstGeom>
          <a:solidFill>
            <a:srgbClr val="F3E8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7196328" y="1298448"/>
            <a:ext cx="1417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ANALYSE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196328" y="1719072"/>
            <a:ext cx="1417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eda_analysis.py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advanced_analytics.py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274320" y="28803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Outputs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274320" y="3246120"/>
            <a:ext cx="1920240" cy="1188720"/>
          </a:xfrm>
          <a:prstGeom prst="roundRect">
            <a:avLst>
              <a:gd name="adj" fmla="val 6154"/>
            </a:avLst>
          </a:prstGeom>
          <a:solidFill>
            <a:srgbClr val="ECFDF5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365760" y="3337560"/>
            <a:ext cx="1737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bluestock_mf.db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(SQLite)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2423160" y="3246120"/>
            <a:ext cx="1920240" cy="1188720"/>
          </a:xfrm>
          <a:prstGeom prst="roundRect">
            <a:avLst>
              <a:gd name="adj" fmla="val 6154"/>
            </a:avLst>
          </a:prstGeom>
          <a:solidFill>
            <a:srgbClr val="EFF6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2514600" y="3337560"/>
            <a:ext cx="1737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Final_Report.pdf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(24 pages)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572000" y="3246120"/>
            <a:ext cx="1920240" cy="1188720"/>
          </a:xfrm>
          <a:prstGeom prst="roundRect">
            <a:avLst>
              <a:gd name="adj" fmla="val 6154"/>
            </a:avLst>
          </a:prstGeom>
          <a:solidFill>
            <a:srgbClr val="FFF7ED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4663440" y="3337560"/>
            <a:ext cx="1737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720840" y="3246120"/>
            <a:ext cx="1920240" cy="1188720"/>
          </a:xfrm>
          <a:prstGeom prst="roundRect">
            <a:avLst>
              <a:gd name="adj" fmla="val 6154"/>
            </a:avLst>
          </a:prstGeom>
          <a:solidFill>
            <a:srgbClr val="F5F3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6812280" y="3337560"/>
            <a:ext cx="1737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output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0" y="484632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Bluestock Finserv Pvt. Ltd.  ·  MF Analytics Capstone  ·  2026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8321040" y="484632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12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73152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EDA Highlights — NAV &amp; AUM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11480" y="62179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5D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charts from the analytics pipeline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1005840"/>
            <a:ext cx="9144000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46888" y="1473708"/>
            <a:ext cx="4261104" cy="28590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pic>
        <p:nvPicPr>
          <p:cNvPr id="7" name="Image 0" descr="/mnt/user-data/uploads/1781782598665_chart_01_nav_tren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501140"/>
            <a:ext cx="4206240" cy="280416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636008" y="1473708"/>
            <a:ext cx="4261104" cy="28590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pic>
        <p:nvPicPr>
          <p:cNvPr id="9" name="Image 1" descr="/mnt/user-data/uploads/1781782598665_chart_02_aum_growth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1501140"/>
            <a:ext cx="4206240" cy="280416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274320" y="4681728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SBI MF leads AUM growth (₹6.2 → ₹12.5 Lakh Cr, 2022–2025); SBI Bluechip Fund shows the highest NAV trajectory.</a:t>
            </a:r>
            <a:endParaRPr lang="en-US" sz="850" dirty="0"/>
          </a:p>
        </p:txBody>
      </p:sp>
      <p:sp>
        <p:nvSpPr>
          <p:cNvPr id="11" name="Text 7"/>
          <p:cNvSpPr/>
          <p:nvPr/>
        </p:nvSpPr>
        <p:spPr>
          <a:xfrm>
            <a:off x="0" y="484632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Bluestock Finserv Pvt. Ltd.  ·  MF Analytics Capstone  ·  2026</a:t>
            </a:r>
            <a:endParaRPr lang="en-US" sz="750" dirty="0"/>
          </a:p>
        </p:txBody>
      </p:sp>
      <p:sp>
        <p:nvSpPr>
          <p:cNvPr id="12" name="Text 8"/>
          <p:cNvSpPr/>
          <p:nvPr/>
        </p:nvSpPr>
        <p:spPr>
          <a:xfrm>
            <a:off x="8321040" y="484632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12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73152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EDA Highlights — SIP &amp; Sector Allocation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11480" y="62179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5D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 behaviour and portfolio composition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1005840"/>
            <a:ext cx="9144000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46888" y="1473708"/>
            <a:ext cx="4261104" cy="28590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pic>
        <p:nvPicPr>
          <p:cNvPr id="7" name="Image 0" descr="/mnt/user-data/uploads/1781782598666_chart_03_sip_inflow_tren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501140"/>
            <a:ext cx="4206240" cy="280416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636008" y="1473708"/>
            <a:ext cx="4261104" cy="28590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pic>
        <p:nvPicPr>
          <p:cNvPr id="9" name="Image 1" descr="/mnt/user-data/uploads/1781782598667_chart_09_sector_donu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1501140"/>
            <a:ext cx="4206240" cy="280416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274320" y="4681728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SIP inflows hit an all-time high of ₹31,002 Cr. Banking (19.2%) and IT (13.4%) dominate sector allocation.</a:t>
            </a:r>
            <a:endParaRPr lang="en-US" sz="850" dirty="0"/>
          </a:p>
        </p:txBody>
      </p:sp>
      <p:sp>
        <p:nvSpPr>
          <p:cNvPr id="11" name="Text 7"/>
          <p:cNvSpPr/>
          <p:nvPr/>
        </p:nvSpPr>
        <p:spPr>
          <a:xfrm>
            <a:off x="0" y="484632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Bluestock Finserv Pvt. Ltd.  ·  MF Analytics Capstone  ·  2026</a:t>
            </a:r>
            <a:endParaRPr lang="en-US" sz="750" dirty="0"/>
          </a:p>
        </p:txBody>
      </p:sp>
      <p:sp>
        <p:nvSpPr>
          <p:cNvPr id="12" name="Text 8"/>
          <p:cNvSpPr/>
          <p:nvPr/>
        </p:nvSpPr>
        <p:spPr>
          <a:xfrm>
            <a:off x="8321040" y="484632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12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73152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Performance Analytics — Benchmarking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11480" y="62179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5D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5 funds vs. NIFTY50 &amp; NIFTY100 (3 years)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1005840"/>
            <a:ext cx="9144000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904238" y="1115568"/>
            <a:ext cx="5335524" cy="35753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pic>
        <p:nvPicPr>
          <p:cNvPr id="7" name="Image 0" descr="/mnt/user-data/uploads/1781782638747_benchmark_comparis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31670" y="1143000"/>
            <a:ext cx="5280660" cy="35204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74320" y="4681728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5 top active funds significantly outperformed both benchmarks; Fund 119094 &amp; Fund 148567 led with 2.5x normalised growth.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0" y="484632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Bluestock Finserv Pvt. Ltd.  ·  MF Analytics Capstone  ·  2026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8321040" y="484632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12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73152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Performance Analytics — Risk-Adjusted Returns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11480" y="62179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5D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Rolling 90-day Sharpe ratio, 5 key funds (2022–2026)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1005840"/>
            <a:ext cx="9144000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904238" y="1115568"/>
            <a:ext cx="5335524" cy="35753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pic>
        <p:nvPicPr>
          <p:cNvPr id="7" name="Image 0" descr="/mnt/user-data/uploads/1781782638748_rolling_sharpe_char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31670" y="1143000"/>
            <a:ext cx="5280660" cy="35204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74320" y="4681728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ABSL Frontline Equity reaches a Sharpe of ~7.5 by mid-2026; HDFC Top 100 shows the most volatile risk-adjusted performance.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0" y="484632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Bluestock Finserv Pvt. Ltd.  ·  MF Analytics Capstone  ·  2026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8321040" y="484632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12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73152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Investor Analytics Dashboard — Industry Overview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11480" y="62179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5D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Desktop · Page 1 of 5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1005840"/>
            <a:ext cx="9144000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904238" y="1115568"/>
            <a:ext cx="5335524" cy="35753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pic>
        <p:nvPicPr>
          <p:cNvPr id="7" name="Image 0" descr="/home/claude/dash_imgs/dash_p1_overvie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31670" y="1143000"/>
            <a:ext cx="5280660" cy="35204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74320" y="4681728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AUM ₹391.76 Lakh Cr · Total Folios 416.42 Lakh · 40 Active Schemes · SBI Mutual Fund leads AUM by AMC.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0" y="484632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Bluestock Finserv Pvt. Ltd.  ·  MF Analytics Capstone  ·  2026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8321040" y="484632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12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73152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 — Investor Transactions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11480" y="62179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5D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Desktop · Page 3 of 5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1005840"/>
            <a:ext cx="9144000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904238" y="1115568"/>
            <a:ext cx="5335524" cy="35753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pic>
        <p:nvPicPr>
          <p:cNvPr id="7" name="Image 0" descr="/home/claude/dash_imgs/dash_p3_transaction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31670" y="1143000"/>
            <a:ext cx="5280660" cy="35204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74320" y="4681728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Lumpsum dominates at 58.49% of transaction value; SIP 35.34%; Redemption 6.17%. Monthly volume tracked Jan 2024–May 2025.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0" y="484632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Bluestock Finserv Pvt. Ltd.  ·  MF Analytics Capstone  ·  2026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8321040" y="484632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12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73152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Findings &amp; Recommendations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11480" y="62179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5D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data tells us — and what to do about it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1005840"/>
            <a:ext cx="9144000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188720"/>
            <a:ext cx="5029200" cy="658368"/>
          </a:xfrm>
          <a:prstGeom prst="roundRect">
            <a:avLst>
              <a:gd name="adj" fmla="val 11111"/>
            </a:avLst>
          </a:prstGeom>
          <a:solidFill>
            <a:srgbClr val="F0F9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65760" y="1280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68680" y="1280160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SBI MF AUM nearly doubled: ₹6.2 → ₹12.5 Lakh Cr (2022–2025)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5349240" y="1490472"/>
            <a:ext cx="320040" cy="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715000" y="1188720"/>
            <a:ext cx="3154680" cy="658368"/>
          </a:xfrm>
          <a:prstGeom prst="roundRect">
            <a:avLst>
              <a:gd name="adj" fmla="val 11111"/>
            </a:avLst>
          </a:prstGeom>
          <a:solidFill>
            <a:srgbClr val="ECFDF5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806440" y="128016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Diversify distribution to reduce concentration risk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74320" y="1947672"/>
            <a:ext cx="5029200" cy="658368"/>
          </a:xfrm>
          <a:prstGeom prst="roundRect">
            <a:avLst>
              <a:gd name="adj" fmla="val 11111"/>
            </a:avLst>
          </a:prstGeom>
          <a:solidFill>
            <a:srgbClr val="F0F9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65760" y="203911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68680" y="2039112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5 active funds beat NIFTY50/100 by up to 2.5x over 3 years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349240" y="2249424"/>
            <a:ext cx="320040" cy="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715000" y="1947672"/>
            <a:ext cx="3154680" cy="658368"/>
          </a:xfrm>
          <a:prstGeom prst="roundRect">
            <a:avLst>
              <a:gd name="adj" fmla="val 11111"/>
            </a:avLst>
          </a:prstGeom>
          <a:solidFill>
            <a:srgbClr val="ECFDF5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806440" y="2039112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Promote active equity funds for long-horizon investors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74320" y="2706624"/>
            <a:ext cx="5029200" cy="658368"/>
          </a:xfrm>
          <a:prstGeom prst="roundRect">
            <a:avLst>
              <a:gd name="adj" fmla="val 11111"/>
            </a:avLst>
          </a:prstGeom>
          <a:solidFill>
            <a:srgbClr val="F0F9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65760" y="279806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🗓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68680" y="2798064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SIP inflows hit all-time high of ₹31,002 Cr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349240" y="3008376"/>
            <a:ext cx="320040" cy="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715000" y="2706624"/>
            <a:ext cx="3154680" cy="658368"/>
          </a:xfrm>
          <a:prstGeom prst="roundRect">
            <a:avLst>
              <a:gd name="adj" fmla="val 11111"/>
            </a:avLst>
          </a:prstGeom>
          <a:solidFill>
            <a:srgbClr val="ECFDF5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806440" y="2798064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 SIP momentum with goal-based nudges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274320" y="3465576"/>
            <a:ext cx="5029200" cy="658368"/>
          </a:xfrm>
          <a:prstGeom prst="roundRect">
            <a:avLst>
              <a:gd name="adj" fmla="val 11111"/>
            </a:avLst>
          </a:prstGeom>
          <a:solidFill>
            <a:srgbClr val="F0F9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365760" y="355701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📍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868680" y="3557016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Madhya Pradesh, Punjab &amp; Telangana lead SIP amounts by state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5349240" y="3767328"/>
            <a:ext cx="320040" cy="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715000" y="3465576"/>
            <a:ext cx="3154680" cy="658368"/>
          </a:xfrm>
          <a:prstGeom prst="roundRect">
            <a:avLst>
              <a:gd name="adj" fmla="val 11111"/>
            </a:avLst>
          </a:prstGeom>
          <a:solidFill>
            <a:srgbClr val="ECFDF5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5806440" y="3557016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digital outreach to these high-performing states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274320" y="4224528"/>
            <a:ext cx="5029200" cy="658368"/>
          </a:xfrm>
          <a:prstGeom prst="roundRect">
            <a:avLst>
              <a:gd name="adj" fmla="val 11111"/>
            </a:avLst>
          </a:prstGeom>
          <a:solidFill>
            <a:srgbClr val="F0F9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365760" y="43159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👥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868680" y="4315968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26–35 age group dominates investor base (41.1%)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5349240" y="4526280"/>
            <a:ext cx="320040" cy="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715000" y="4224528"/>
            <a:ext cx="3154680" cy="658368"/>
          </a:xfrm>
          <a:prstGeom prst="roundRect">
            <a:avLst>
              <a:gd name="adj" fmla="val 11111"/>
            </a:avLst>
          </a:prstGeom>
          <a:solidFill>
            <a:srgbClr val="ECFDF5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5806440" y="4315968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targeted micro-SIP products for 18–25 cohort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0" y="484632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Bluestock Finserv Pvt. Ltd.  ·  MF Analytics Capstone  ·  2026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8321040" y="484632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12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914400"/>
            <a:ext cx="4572000" cy="4572000"/>
          </a:xfrm>
          <a:prstGeom prst="ellipse">
            <a:avLst/>
          </a:prstGeom>
          <a:solidFill>
            <a:srgbClr val="0D9488">
              <a:alpha val="15000"/>
            </a:srgbClr>
          </a:solidFill>
          <a:ln w="12700">
            <a:solidFill>
              <a:srgbClr val="0D9488">
                <a:alpha val="1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371600" y="3200400"/>
            <a:ext cx="3657600" cy="3657600"/>
          </a:xfrm>
          <a:prstGeom prst="ellipse">
            <a:avLst/>
          </a:prstGeom>
          <a:solidFill>
            <a:srgbClr val="0D9488">
              <a:alpha val="12000"/>
            </a:srgbClr>
          </a:solidFill>
          <a:ln w="12700">
            <a:solidFill>
              <a:srgbClr val="0D9488">
                <a:alpha val="12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457200" y="23317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Bluestock MF Analytics — Capstone Complete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200400" y="2880360"/>
            <a:ext cx="2743200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3017520"/>
            <a:ext cx="7315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Sravani Surepalli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BSc Data Science (Graduate 2026) · University of Mumbai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Analytics Intern · Bluestock Finserv Pvt. Ltd.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GitHub: github.com/sravanisurepalli21/bluestock_mf_capstone  ·  Tag: v1.0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8321040" y="484632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12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Bluestock MF Analytics — Capstone Presentation</dc:title>
  <dc:subject>PptxGenJS Presentation</dc:subject>
  <dc:creator>Sravani Surepalli</dc:creator>
  <cp:lastModifiedBy>Sravani Surepalli</cp:lastModifiedBy>
  <cp:revision>1</cp:revision>
  <dcterms:created xsi:type="dcterms:W3CDTF">2026-06-25T11:22:42Z</dcterms:created>
  <dcterms:modified xsi:type="dcterms:W3CDTF">2026-06-25T11:22:42Z</dcterms:modified>
</cp:coreProperties>
</file>